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7.xml" ContentType="application/vnd.openxmlformats-officedocument.them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5" r:id="rId2"/>
    <p:sldMasterId id="2147483689" r:id="rId3"/>
    <p:sldMasterId id="2147483703" r:id="rId4"/>
    <p:sldMasterId id="2147483717" r:id="rId5"/>
    <p:sldMasterId id="2147483731" r:id="rId6"/>
    <p:sldMasterId id="2147483745" r:id="rId7"/>
  </p:sldMasterIdLst>
  <p:notesMasterIdLst>
    <p:notesMasterId r:id="rId15"/>
  </p:notesMasterIdLst>
  <p:sldIdLst>
    <p:sldId id="258" r:id="rId8"/>
    <p:sldId id="265" r:id="rId9"/>
    <p:sldId id="266" r:id="rId10"/>
    <p:sldId id="267" r:id="rId11"/>
    <p:sldId id="270" r:id="rId12"/>
    <p:sldId id="268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00A41-1097-493D-A7E7-6B9E7A23C766}" type="datetimeFigureOut">
              <a:rPr lang="en-US" smtClean="0"/>
              <a:t>11/15/2017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043B8-523A-4DE2-9E52-6D2A62236D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14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vi-VN" altLang="en-US" smtClean="0">
              <a:latin typeface="Calibri" panose="020F0502020204030204" pitchFamily="34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58F401C-78D7-4680-ABFA-D70AE5DE29F4}" type="slidenum">
              <a:rPr lang="en-US" altLang="en-US" smtClean="0">
                <a:solidFill>
                  <a:prstClr val="black"/>
                </a:solidFill>
                <a:latin typeface="Calibri" panose="020F0502020204030204" pitchFamily="34" charset="0"/>
              </a:rPr>
              <a:pPr/>
              <a:t>1</a:t>
            </a:fld>
            <a:endParaRPr lang="en-US" altLang="en-US" smtClean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vi-VN">
                <a:solidFill>
                  <a:prstClr val="black"/>
                </a:solidFill>
              </a:rPr>
              <a:t>Chương trình tiên tiến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67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vi-VN" altLang="en-US" smtClean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vi-VN">
                <a:solidFill>
                  <a:prstClr val="black"/>
                </a:solidFill>
              </a:rPr>
              <a:t>Chương trình tiên tiến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84563C4-6DCE-464E-B3E4-FDA4670734A3}" type="slidenum">
              <a:rPr lang="en-US" altLang="en-US" smtClean="0">
                <a:solidFill>
                  <a:prstClr val="black"/>
                </a:solidFill>
                <a:latin typeface="Calibri" panose="020F0502020204030204" pitchFamily="34" charset="0"/>
              </a:rPr>
              <a:pPr/>
              <a:t>2</a:t>
            </a:fld>
            <a:endParaRPr lang="en-US" altLang="en-US" smtClean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425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5.xml"/><Relationship Id="rId1" Type="http://schemas.openxmlformats.org/officeDocument/2006/relationships/themeOverride" Target="../theme/themeOverride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6.xml"/><Relationship Id="rId1" Type="http://schemas.openxmlformats.org/officeDocument/2006/relationships/themeOverride" Target="../theme/themeOverride1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6.xml"/><Relationship Id="rId1" Type="http://schemas.openxmlformats.org/officeDocument/2006/relationships/themeOverride" Target="../theme/themeOverride1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7.xml"/><Relationship Id="rId1" Type="http://schemas.openxmlformats.org/officeDocument/2006/relationships/themeOverride" Target="../theme/themeOverride1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7.xml"/><Relationship Id="rId1" Type="http://schemas.openxmlformats.org/officeDocument/2006/relationships/themeOverride" Target="../theme/themeOverride1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6FC6">
                    <a:tint val="2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F6FC6">
                  <a:tint val="2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3593C0BB-193F-4CDD-B253-A72F35A7832F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195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6117-F79E-4E49-A53A-3FDE8EF0E4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9490932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DBF5F9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B10A9786-EEFB-42E7-969C-868B0403E1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2360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9EE62-9769-4CE5-A9B8-673872F4375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7939416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0919-93F4-481F-9AED-25D9C87E0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8950216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335C-EF32-4172-A238-B6A41D064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83517051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73FA-A7FC-40DF-A3CA-23132F8D70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544415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558CD-392C-4062-80D3-23110F42BB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98017360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vpdb@uit.edu.vn - (028) 372 52002 - ext: 155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5C401-C88E-4F41-B9EB-413D06D0CCD7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474214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47418-49F6-40DE-ADD4-F6B4084D3A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2572511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16D33-FA5F-4100-9E20-9E6DF840864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16201631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732" y="2355850"/>
            <a:ext cx="10253485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348006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2143116"/>
            <a:ext cx="11176000" cy="4714884"/>
          </a:xfrm>
        </p:spPr>
        <p:txBody>
          <a:bodyPr/>
          <a:lstStyle>
            <a:lvl1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795510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6FC6">
                    <a:tint val="2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F6FC6">
                  <a:tint val="2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3593C0BB-193F-4CDD-B253-A72F35A7832F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5218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6117-F79E-4E49-A53A-3FDE8EF0E4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01406404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DBF5F9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B10A9786-EEFB-42E7-969C-868B0403E1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208310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9EE62-9769-4CE5-A9B8-673872F4375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600354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0919-93F4-481F-9AED-25D9C87E0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867150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335C-EF32-4172-A238-B6A41D064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97343906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73FA-A7FC-40DF-A3CA-23132F8D70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9075935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558CD-392C-4062-80D3-23110F42BB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55332544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vpdb@uit.edu.vn - (028) 372 52002 - ext: 155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5C401-C88E-4F41-B9EB-413D06D0CCD7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635741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47418-49F6-40DE-ADD4-F6B4084D3A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10751857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16D33-FA5F-4100-9E20-9E6DF840864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88968408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732" y="2355850"/>
            <a:ext cx="10253485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7907547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2143116"/>
            <a:ext cx="11176000" cy="4714884"/>
          </a:xfrm>
        </p:spPr>
        <p:txBody>
          <a:bodyPr/>
          <a:lstStyle>
            <a:lvl1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419130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6FC6">
                    <a:tint val="2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F6FC6">
                  <a:tint val="2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3593C0BB-193F-4CDD-B253-A72F35A7832F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367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6117-F79E-4E49-A53A-3FDE8EF0E4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00306082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DBF5F9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B10A9786-EEFB-42E7-969C-868B0403E1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8075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9EE62-9769-4CE5-A9B8-673872F4375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77661762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0919-93F4-481F-9AED-25D9C87E0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3828175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335C-EF32-4172-A238-B6A41D064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98611775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73FA-A7FC-40DF-A3CA-23132F8D70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2057318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558CD-392C-4062-80D3-23110F42BB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24717002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vpdb@uit.edu.vn - (028) 372 52002 - ext: 155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5C401-C88E-4F41-B9EB-413D06D0CCD7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23880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47418-49F6-40DE-ADD4-F6B4084D3A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7547478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16D33-FA5F-4100-9E20-9E6DF840864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78688306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732" y="2355850"/>
            <a:ext cx="10253485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7518709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2143116"/>
            <a:ext cx="11176000" cy="4714884"/>
          </a:xfrm>
        </p:spPr>
        <p:txBody>
          <a:bodyPr/>
          <a:lstStyle>
            <a:lvl1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41170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6FC6">
                    <a:tint val="2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F6FC6">
                  <a:tint val="2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3593C0BB-193F-4CDD-B253-A72F35A7832F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665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6117-F79E-4E49-A53A-3FDE8EF0E4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75742120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DBF5F9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B10A9786-EEFB-42E7-969C-868B0403E1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7064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9EE62-9769-4CE5-A9B8-673872F4375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6890563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0919-93F4-481F-9AED-25D9C87E0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2317111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335C-EF32-4172-A238-B6A41D064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41411724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73FA-A7FC-40DF-A3CA-23132F8D70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735568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558CD-392C-4062-80D3-23110F42BB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01575276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vpdb@uit.edu.vn - (028) 372 52002 - ext: 155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5C401-C88E-4F41-B9EB-413D06D0CCD7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92622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47418-49F6-40DE-ADD4-F6B4084D3A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2652212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16D33-FA5F-4100-9E20-9E6DF840864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5452570"/>
      </p:ext>
    </p:extLst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732" y="2355850"/>
            <a:ext cx="10253485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756008"/>
      </p:ext>
    </p:extLst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2143116"/>
            <a:ext cx="11176000" cy="4714884"/>
          </a:xfrm>
        </p:spPr>
        <p:txBody>
          <a:bodyPr/>
          <a:lstStyle>
            <a:lvl1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729882"/>
      </p:ext>
    </p:extLst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6FC6">
                    <a:tint val="2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F6FC6">
                  <a:tint val="2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3593C0BB-193F-4CDD-B253-A72F35A7832F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523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6117-F79E-4E49-A53A-3FDE8EF0E4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50186"/>
      </p:ext>
    </p:extLst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DBF5F9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B10A9786-EEFB-42E7-969C-868B0403E1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09065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9EE62-9769-4CE5-A9B8-673872F4375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8554139"/>
      </p:ext>
    </p:extLst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0919-93F4-481F-9AED-25D9C87E0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9880413"/>
      </p:ext>
    </p:extLst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335C-EF32-4172-A238-B6A41D064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44509897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73FA-A7FC-40DF-A3CA-23132F8D70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39908324"/>
      </p:ext>
    </p:extLst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558CD-392C-4062-80D3-23110F42BB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8974345"/>
      </p:ext>
    </p:extLst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vpdb@uit.edu.vn - (028) 372 52002 - ext: 155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5C401-C88E-4F41-B9EB-413D06D0CCD7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390278"/>
      </p:ext>
    </p:extLst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47418-49F6-40DE-ADD4-F6B4084D3A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28223797"/>
      </p:ext>
    </p:extLst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16D33-FA5F-4100-9E20-9E6DF840864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86835195"/>
      </p:ext>
    </p:extLst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732" y="2355850"/>
            <a:ext cx="10253485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0826355"/>
      </p:ext>
    </p:extLst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2143116"/>
            <a:ext cx="11176000" cy="4714884"/>
          </a:xfrm>
        </p:spPr>
        <p:txBody>
          <a:bodyPr/>
          <a:lstStyle>
            <a:lvl1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876339"/>
      </p:ext>
    </p:extLst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6FC6">
                    <a:tint val="2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F6FC6">
                  <a:tint val="2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3593C0BB-193F-4CDD-B253-A72F35A7832F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55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6117-F79E-4E49-A53A-3FDE8EF0E4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8422066"/>
      </p:ext>
    </p:extLst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DBF5F9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B10A9786-EEFB-42E7-969C-868B0403E1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33545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9EE62-9769-4CE5-A9B8-673872F4375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25474924"/>
      </p:ext>
    </p:extLst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0919-93F4-481F-9AED-25D9C87E0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9944175"/>
      </p:ext>
    </p:extLst>
  </p:cSld>
  <p:clrMapOvr>
    <a:masterClrMapping/>
  </p:clrMapOvr>
  <p:transition spd="slow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335C-EF32-4172-A238-B6A41D064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1606089"/>
      </p:ext>
    </p:extLst>
  </p:cSld>
  <p:clrMapOvr>
    <a:masterClrMapping/>
  </p:clrMapOvr>
  <p:transition spd="slow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73FA-A7FC-40DF-A3CA-23132F8D70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1380735"/>
      </p:ext>
    </p:extLst>
  </p:cSld>
  <p:clrMapOvr>
    <a:masterClrMapping/>
  </p:clrMapOvr>
  <p:transition spd="slow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558CD-392C-4062-80D3-23110F42BB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03325365"/>
      </p:ext>
    </p:extLst>
  </p:cSld>
  <p:clrMapOvr>
    <a:masterClrMapping/>
  </p:clrMapOvr>
  <p:transition spd="slow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vpdb@uit.edu.vn - (028) 372 52002 - ext: 155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5C401-C88E-4F41-B9EB-413D06D0CCD7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512459"/>
      </p:ext>
    </p:extLst>
  </p:cSld>
  <p:clrMapOvr>
    <a:masterClrMapping/>
  </p:clrMapOvr>
  <p:transition spd="slow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47418-49F6-40DE-ADD4-F6B4084D3A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18253132"/>
      </p:ext>
    </p:extLst>
  </p:cSld>
  <p:clrMapOvr>
    <a:masterClrMapping/>
  </p:clrMapOvr>
  <p:transition spd="slow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16D33-FA5F-4100-9E20-9E6DF840864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2305668"/>
      </p:ext>
    </p:extLst>
  </p:cSld>
  <p:clrMapOvr>
    <a:masterClrMapping/>
  </p:clrMapOvr>
  <p:transition spd="slow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732" y="2355850"/>
            <a:ext cx="10253485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3230942"/>
      </p:ext>
    </p:extLst>
  </p:cSld>
  <p:clrMapOvr>
    <a:masterClrMapping/>
  </p:clrMapOvr>
  <p:transition spd="slow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2143116"/>
            <a:ext cx="11176000" cy="4714884"/>
          </a:xfrm>
        </p:spPr>
        <p:txBody>
          <a:bodyPr/>
          <a:lstStyle>
            <a:lvl1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769338"/>
      </p:ext>
    </p:extLst>
  </p:cSld>
  <p:clrMapOvr>
    <a:masterClrMapping/>
  </p:clrMapOvr>
  <p:transition spd="slow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0F6FC6">
                    <a:tint val="2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F6FC6">
                  <a:tint val="20000"/>
                </a:srgbClr>
              </a:solidFill>
            </a:endParaRPr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3593C0BB-193F-4CDD-B253-A72F35A7832F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50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C6117-F79E-4E49-A53A-3FDE8EF0E4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60425638"/>
      </p:ext>
    </p:extLst>
  </p:cSld>
  <p:clrMapOvr>
    <a:masterClrMapping/>
  </p:clrMapOvr>
  <p:transition spd="slow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>
                <a:solidFill>
                  <a:srgbClr val="DBF5F9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DBF5F9">
                  <a:shade val="9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pPr>
              <a:defRPr/>
            </a:pPr>
            <a:fld id="{B10A9786-EEFB-42E7-969C-868B0403E1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7036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9EE62-9769-4CE5-A9B8-673872F4375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379767"/>
      </p:ext>
    </p:extLst>
  </p:cSld>
  <p:clrMapOvr>
    <a:masterClrMapping/>
  </p:clrMapOvr>
  <p:transition spd="slow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00919-93F4-481F-9AED-25D9C87E0B9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4243854"/>
      </p:ext>
    </p:extLst>
  </p:cSld>
  <p:clrMapOvr>
    <a:masterClrMapping/>
  </p:clrMapOvr>
  <p:transition spd="slow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335C-EF32-4172-A238-B6A41D0644A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4002003"/>
      </p:ext>
    </p:extLst>
  </p:cSld>
  <p:clrMapOvr>
    <a:masterClrMapping/>
  </p:clrMapOvr>
  <p:transition spd="slow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273FA-A7FC-40DF-A3CA-23132F8D705A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6336405"/>
      </p:ext>
    </p:extLst>
  </p:cSld>
  <p:clrMapOvr>
    <a:masterClrMapping/>
  </p:clrMapOvr>
  <p:transition spd="slow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558CD-392C-4062-80D3-23110F42BB9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049163"/>
      </p:ext>
    </p:extLst>
  </p:cSld>
  <p:clrMapOvr>
    <a:masterClrMapping/>
  </p:clrMapOvr>
  <p:transition spd="slow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vpdb@uit.edu.vn - (028) 372 52002 - ext: 155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5C401-C88E-4F41-B9EB-413D06D0CCD7}" type="slidenum">
              <a:rPr lang="en-US" altLang="en-US"/>
              <a:pPr>
                <a:defRPr/>
              </a:pPr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520060"/>
      </p:ext>
    </p:extLst>
  </p:cSld>
  <p:clrMapOvr>
    <a:masterClrMapping/>
  </p:clrMapOvr>
  <p:transition spd="slow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247418-49F6-40DE-ADD4-F6B4084D3A0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9879535"/>
      </p:ext>
    </p:extLst>
  </p:cSld>
  <p:clrMapOvr>
    <a:masterClrMapping/>
  </p:clrMapOvr>
  <p:transition spd="slow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16D33-FA5F-4100-9E20-9E6DF840864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90137673"/>
      </p:ext>
    </p:extLst>
  </p:cSld>
  <p:clrMapOvr>
    <a:masterClrMapping/>
  </p:clrMapOvr>
  <p:transition spd="slow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5625" y="649805"/>
            <a:ext cx="9390944" cy="1523494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5400"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5273" y="4344989"/>
            <a:ext cx="9390944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 dirty="0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62732" y="2355850"/>
            <a:ext cx="10253485" cy="1384994"/>
          </a:xfr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0066FF"/>
                    </a:gs>
                    <a:gs pos="28000">
                      <a:srgbClr val="2E59B0"/>
                    </a:gs>
                    <a:gs pos="62000">
                      <a:srgbClr val="2B395F"/>
                    </a:gs>
                    <a:gs pos="88000">
                      <a:srgbClr val="000000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145621"/>
      </p:ext>
    </p:extLst>
  </p:cSld>
  <p:clrMapOvr>
    <a:masterClrMapping/>
  </p:clrMapOvr>
  <p:transition spd="slow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8000" y="2143116"/>
            <a:ext cx="11176000" cy="4714884"/>
          </a:xfrm>
        </p:spPr>
        <p:txBody>
          <a:bodyPr/>
          <a:lstStyle>
            <a:lvl1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lnSpc>
                <a:spcPct val="90000"/>
              </a:lnSpc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7530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uit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188913"/>
            <a:ext cx="177588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8445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077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D7B257-6811-4A29-A1B5-C02830B19CF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82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439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uit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188913"/>
            <a:ext cx="177588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8445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077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D7B257-6811-4A29-A1B5-C02830B19CF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82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055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uit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188913"/>
            <a:ext cx="177588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8445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077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D7B257-6811-4A29-A1B5-C02830B19CF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82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174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uit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188913"/>
            <a:ext cx="177588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8445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077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D7B257-6811-4A29-A1B5-C02830B19CF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82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816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uit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188913"/>
            <a:ext cx="177588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8445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077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D7B257-6811-4A29-A1B5-C02830B19CF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82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260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uit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188913"/>
            <a:ext cx="177588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8445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077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D7B257-6811-4A29-A1B5-C02830B19CF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82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915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3" descr="uit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84" y="188913"/>
            <a:ext cx="1775883" cy="1116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-12700" y="-7938"/>
            <a:ext cx="12217400" cy="84455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938"/>
            <a:ext cx="63500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3077" name="Title Placeholder 8"/>
          <p:cNvSpPr>
            <a:spLocks noGrp="1"/>
          </p:cNvSpPr>
          <p:nvPr>
            <p:ph type="title"/>
          </p:nvPr>
        </p:nvSpPr>
        <p:spPr bwMode="auto"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8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 smtClean="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04617B">
                    <a:shade val="9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vpdb@uit.edu.vn - (028) 372 52002 - ext: 155</a:t>
            </a:r>
            <a:endParaRPr lang="en-US" dirty="0">
              <a:solidFill>
                <a:srgbClr val="04617B">
                  <a:shade val="9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45C75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D7B257-6811-4A29-A1B5-C02830B19CFF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82" name="Group 1"/>
          <p:cNvGrpSpPr>
            <a:grpSpLocks/>
          </p:cNvGrpSpPr>
          <p:nvPr/>
        </p:nvGrpSpPr>
        <p:grpSpPr bwMode="auto">
          <a:xfrm>
            <a:off x="-25399" y="203200"/>
            <a:ext cx="12240684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207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</p:sldLayoutIdLst>
  <p:transition spd="slow"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vpdb@uit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VPDB\Desktop\Financial%20Guarantee%202018.pdf" TargetMode="External"/><Relationship Id="rId2" Type="http://schemas.openxmlformats.org/officeDocument/2006/relationships/hyperlink" Target="https://orange.okstate.edu/apply/" TargetMode="External"/><Relationship Id="rId1" Type="http://schemas.openxmlformats.org/officeDocument/2006/relationships/slideLayout" Target="../slideLayouts/slideLayout39.xml"/><Relationship Id="rId4" Type="http://schemas.openxmlformats.org/officeDocument/2006/relationships/hyperlink" Target="mailto:vpdb@uit.edu.vn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vpdb@uit.edu.vn" TargetMode="External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vpdb@uit.edu.vn" TargetMode="External"/><Relationship Id="rId1" Type="http://schemas.openxmlformats.org/officeDocument/2006/relationships/slideLayout" Target="../slideLayouts/slideLayout7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vpdb@uit.edu.vn" TargetMode="External"/><Relationship Id="rId2" Type="http://schemas.openxmlformats.org/officeDocument/2006/relationships/hyperlink" Target="https://admissions.okstate.edu/information/international/important-dates-deadlines.html" TargetMode="External"/><Relationship Id="rId1" Type="http://schemas.openxmlformats.org/officeDocument/2006/relationships/slideLayout" Target="../slideLayouts/slideLayout6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slife.okstate.edu/" TargetMode="External"/><Relationship Id="rId2" Type="http://schemas.openxmlformats.org/officeDocument/2006/relationships/hyperlink" Target="https://admissions.okstate.edu/information/application-essays.html" TargetMode="External"/><Relationship Id="rId1" Type="http://schemas.openxmlformats.org/officeDocument/2006/relationships/slideLayout" Target="../slideLayouts/slideLayout91.xml"/><Relationship Id="rId6" Type="http://schemas.openxmlformats.org/officeDocument/2006/relationships/hyperlink" Target="mailto:vpdb@uit.edu.vn" TargetMode="External"/><Relationship Id="rId5" Type="http://schemas.openxmlformats.org/officeDocument/2006/relationships/hyperlink" Target="http://www.reslife.okstate.edu/faq.php" TargetMode="External"/><Relationship Id="rId4" Type="http://schemas.openxmlformats.org/officeDocument/2006/relationships/hyperlink" Target="https://reslife.okstate.edu/sites/default/files/downloads/osu-housing-rate-sheet-2017-2018-v20170725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3387144" y="980729"/>
            <a:ext cx="6143222" cy="935509"/>
          </a:xfrm>
          <a:prstGeom prst="rect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 smtClean="0">
                <a:solidFill>
                  <a:prstClr val="white"/>
                </a:solidFill>
                <a:cs typeface="Times New Roman" pitchFamily="18" charset="0"/>
              </a:rPr>
              <a:t>ĐẠI HỌC CÔNG NGHỆ THÔNG TIN </a:t>
            </a:r>
            <a:r>
              <a:rPr lang="vi-VN" sz="2000" dirty="0">
                <a:solidFill>
                  <a:prstClr val="white"/>
                </a:solidFill>
                <a:cs typeface="Times New Roman" pitchFamily="18" charset="0"/>
              </a:rPr>
              <a:t/>
            </a:r>
            <a:br>
              <a:rPr lang="vi-VN" sz="2000" dirty="0">
                <a:solidFill>
                  <a:prstClr val="white"/>
                </a:solidFill>
                <a:cs typeface="Times New Roman" pitchFamily="18" charset="0"/>
              </a:rPr>
            </a:br>
            <a:r>
              <a:rPr lang="en-US" sz="2000" b="1" dirty="0" smtClean="0">
                <a:solidFill>
                  <a:prstClr val="white"/>
                </a:solidFill>
                <a:cs typeface="Times New Roman" pitchFamily="18" charset="0"/>
              </a:rPr>
              <a:t>VĂN PHÒNG CÁC CHƯƠNG TRÌNH ĐẶC BIỆT</a:t>
            </a:r>
            <a:endParaRPr lang="vi-VN" sz="2000" b="1" dirty="0">
              <a:solidFill>
                <a:prstClr val="white"/>
              </a:solidFill>
              <a:latin typeface="Segoe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811369" y="2636839"/>
            <a:ext cx="10380371" cy="2016125"/>
          </a:xfrm>
        </p:spPr>
        <p:txBody>
          <a:bodyPr/>
          <a:lstStyle/>
          <a:p>
            <a:pPr algn="ctr" defTabSz="912813" eaLnBrk="1" hangingPunct="1">
              <a:defRPr/>
            </a:pPr>
            <a:r>
              <a:rPr lang="en-US" altLang="ja-JP" sz="4800" b="1" dirty="0" smtClean="0">
                <a:solidFill>
                  <a:srgbClr val="03495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CHUYỂN TIẾP </a:t>
            </a:r>
            <a:r>
              <a:rPr lang="en-US" altLang="ja-JP" sz="4800" b="1" dirty="0">
                <a:solidFill>
                  <a:srgbClr val="03495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ja-JP" sz="4800" b="1" dirty="0">
                <a:solidFill>
                  <a:srgbClr val="03495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ja-JP" sz="4800" b="1" dirty="0" smtClean="0">
                <a:solidFill>
                  <a:srgbClr val="03495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SANG ĐẠI HỌC BANG OKLAHOMA HOA KỲ</a:t>
            </a:r>
            <a:endParaRPr lang="en-US" altLang="ja-JP" sz="4000" b="1" dirty="0">
              <a:solidFill>
                <a:srgbClr val="03495C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0234930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2381251" y="908051"/>
            <a:ext cx="7707313" cy="1008063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 defTabSz="914363">
              <a:lnSpc>
                <a:spcPct val="90000"/>
              </a:lnSpc>
              <a:spcBef>
                <a:spcPct val="0"/>
              </a:spcBef>
              <a:defRPr/>
            </a:pPr>
            <a:endParaRPr kumimoji="1" lang="vi-VN" sz="3600" b="1" i="1" spc="-150" dirty="0">
              <a:ln w="3175">
                <a:noFill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charset="0"/>
            </a:endParaRPr>
          </a:p>
        </p:txBody>
      </p:sp>
      <p:sp>
        <p:nvSpPr>
          <p:cNvPr id="15363" name="TextBox 7"/>
          <p:cNvSpPr txBox="1">
            <a:spLocks noChangeArrowheads="1"/>
          </p:cNvSpPr>
          <p:nvPr/>
        </p:nvSpPr>
        <p:spPr bwMode="auto">
          <a:xfrm>
            <a:off x="1738648" y="1916114"/>
            <a:ext cx="883490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Calibri" panose="020F0502020204030204" pitchFamily="34" charset="0"/>
              <a:buAutoNum type="arabicPeriod"/>
            </a:pP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lũy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2.0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2.25 (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thang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4.0)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Calibri" panose="020F0502020204030204" pitchFamily="34" charset="0"/>
              <a:buAutoNum type="arabicPeriod"/>
            </a:pP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hoàn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ở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Hồ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Minh</a:t>
            </a:r>
            <a:endParaRPr lang="en-US" altLang="en-US" sz="2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Calibri" panose="020F0502020204030204" pitchFamily="34" charset="0"/>
              <a:buAutoNum type="arabicPeriod"/>
            </a:pP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61 TOEFL </a:t>
            </a:r>
            <a:r>
              <a:rPr lang="en-US" altLang="en-US" sz="28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iBT</a:t>
            </a:r>
            <a:r>
              <a:rPr lang="en-US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500+ TOEFL PBT, </a:t>
            </a:r>
            <a:r>
              <a:rPr lang="en-US" altLang="en-US" sz="28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alt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5.5 IELTS</a:t>
            </a:r>
          </a:p>
        </p:txBody>
      </p:sp>
      <p:sp>
        <p:nvSpPr>
          <p:cNvPr id="15364" name="TextBox 8"/>
          <p:cNvSpPr txBox="1">
            <a:spLocks noChangeArrowheads="1"/>
          </p:cNvSpPr>
          <p:nvPr/>
        </p:nvSpPr>
        <p:spPr bwMode="auto">
          <a:xfrm>
            <a:off x="3719514" y="1268413"/>
            <a:ext cx="45370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solidFill>
                <a:srgbClr val="0F6FC6"/>
              </a:solidFill>
            </a:endParaRPr>
          </a:p>
        </p:txBody>
      </p:sp>
      <p:sp>
        <p:nvSpPr>
          <p:cNvPr id="15365" name="TextBox 1"/>
          <p:cNvSpPr txBox="1">
            <a:spLocks noChangeArrowheads="1"/>
          </p:cNvSpPr>
          <p:nvPr/>
        </p:nvSpPr>
        <p:spPr bwMode="auto">
          <a:xfrm>
            <a:off x="8832381" y="6303963"/>
            <a:ext cx="3986212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vpdb@uit.edu.vn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(028) 372 52002 - </a:t>
            </a:r>
            <a:r>
              <a:rPr lang="en-US" altLang="en-US" sz="1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155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77917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3"/>
          <p:cNvSpPr txBox="1">
            <a:spLocks noChangeArrowheads="1"/>
          </p:cNvSpPr>
          <p:nvPr/>
        </p:nvSpPr>
        <p:spPr bwMode="auto">
          <a:xfrm>
            <a:off x="6383338" y="6372225"/>
            <a:ext cx="4068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ja-JP">
                <a:solidFill>
                  <a:prstClr val="white"/>
                </a:solidFill>
                <a:latin typeface="Calibri" panose="020F0502020204030204" pitchFamily="34" charset="0"/>
                <a:cs typeface="HGP明朝E"/>
              </a:rPr>
              <a:t>CHƯƠNG TRÌNH TIÊN TIẾN</a:t>
            </a:r>
            <a:endParaRPr kumimoji="1" lang="ja-JP" altLang="en-US">
              <a:solidFill>
                <a:prstClr val="white"/>
              </a:solidFill>
              <a:latin typeface="Calibri" panose="020F0502020204030204" pitchFamily="34" charset="0"/>
              <a:cs typeface="HGP明朝E"/>
            </a:endParaRPr>
          </a:p>
        </p:txBody>
      </p:sp>
      <p:sp>
        <p:nvSpPr>
          <p:cNvPr id="17411" name="TextBox 5"/>
          <p:cNvSpPr txBox="1">
            <a:spLocks noChangeArrowheads="1"/>
          </p:cNvSpPr>
          <p:nvPr/>
        </p:nvSpPr>
        <p:spPr bwMode="auto">
          <a:xfrm>
            <a:off x="5303838" y="6515100"/>
            <a:ext cx="5357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altLang="en-US" i="1">
              <a:solidFill>
                <a:prstClr val="black"/>
              </a:solidFill>
              <a:latin typeface="Brush Script MT" panose="03060802040406070304" pitchFamily="66" charset="0"/>
            </a:endParaRPr>
          </a:p>
        </p:txBody>
      </p:sp>
      <p:sp>
        <p:nvSpPr>
          <p:cNvPr id="17412" name="Title 1"/>
          <p:cNvSpPr>
            <a:spLocks noGrp="1"/>
          </p:cNvSpPr>
          <p:nvPr>
            <p:ph type="title"/>
          </p:nvPr>
        </p:nvSpPr>
        <p:spPr>
          <a:xfrm>
            <a:off x="2062163" y="233364"/>
            <a:ext cx="8229600" cy="865187"/>
          </a:xfrm>
        </p:spPr>
        <p:txBody>
          <a:bodyPr/>
          <a:lstStyle/>
          <a:p>
            <a:r>
              <a:rPr lang="en-US" altLang="en-US" sz="2400"/>
              <a:t>Admission Procedure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062163" y="1128714"/>
            <a:ext cx="8382000" cy="4714875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ClrTx/>
              <a:buFont typeface="+mj-lt"/>
              <a:buAutoNum type="arabicPeriod"/>
              <a:defRPr/>
            </a:pPr>
            <a:r>
              <a:rPr lang="en-US" sz="2100" dirty="0" err="1" smtClean="0"/>
              <a:t>Hoàn</a:t>
            </a:r>
            <a:r>
              <a:rPr lang="en-US" sz="2100" dirty="0" smtClean="0"/>
              <a:t> </a:t>
            </a:r>
            <a:r>
              <a:rPr lang="en-US" sz="2100" dirty="0" err="1" smtClean="0"/>
              <a:t>tất</a:t>
            </a:r>
            <a:r>
              <a:rPr lang="en-US" sz="2100" dirty="0" smtClean="0"/>
              <a:t> </a:t>
            </a:r>
            <a:r>
              <a:rPr lang="en-US" sz="2100" dirty="0" err="1" smtClean="0"/>
              <a:t>đơn</a:t>
            </a:r>
            <a:r>
              <a:rPr lang="en-US" sz="2100" dirty="0" smtClean="0"/>
              <a:t> </a:t>
            </a:r>
            <a:r>
              <a:rPr lang="en-US" sz="2100" dirty="0" err="1" smtClean="0"/>
              <a:t>xin</a:t>
            </a:r>
            <a:r>
              <a:rPr lang="en-US" sz="2100" dirty="0" smtClean="0"/>
              <a:t> </a:t>
            </a:r>
            <a:r>
              <a:rPr lang="en-US" sz="2100" dirty="0" err="1" smtClean="0"/>
              <a:t>nhập</a:t>
            </a:r>
            <a:r>
              <a:rPr lang="en-US" sz="2100" dirty="0" smtClean="0"/>
              <a:t> </a:t>
            </a:r>
            <a:r>
              <a:rPr lang="en-US" sz="2100" dirty="0" err="1" smtClean="0"/>
              <a:t>học</a:t>
            </a:r>
            <a:r>
              <a:rPr lang="en-US" sz="2100" dirty="0" smtClean="0"/>
              <a:t> </a:t>
            </a:r>
            <a:r>
              <a:rPr lang="en-US" sz="2100" dirty="0" err="1" smtClean="0"/>
              <a:t>tại</a:t>
            </a:r>
            <a:r>
              <a:rPr lang="en-US" sz="2100" dirty="0" smtClean="0"/>
              <a:t> </a:t>
            </a:r>
            <a:r>
              <a:rPr lang="en-US" sz="2100" dirty="0" smtClean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https</a:t>
            </a:r>
            <a:r>
              <a:rPr lang="en-US" sz="2100" dirty="0">
                <a:solidFill>
                  <a:schemeClr val="tx2">
                    <a:lumMod val="60000"/>
                    <a:lumOff val="40000"/>
                  </a:schemeClr>
                </a:solidFill>
                <a:hlinkClick r:id="rId2"/>
              </a:rPr>
              <a:t>://orange.okstate.edu/apply/</a:t>
            </a:r>
            <a:r>
              <a:rPr lang="en-US" sz="2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514350" indent="-514350">
              <a:lnSpc>
                <a:spcPct val="100000"/>
              </a:lnSpc>
              <a:buClrTx/>
              <a:buFont typeface="+mj-lt"/>
              <a:buAutoNum type="arabicPeriod"/>
              <a:defRPr/>
            </a:pPr>
            <a:r>
              <a:rPr lang="en-US" sz="2100" dirty="0" err="1" smtClean="0"/>
              <a:t>Đóng</a:t>
            </a:r>
            <a:r>
              <a:rPr lang="en-US" sz="2100" dirty="0" smtClean="0"/>
              <a:t> </a:t>
            </a:r>
            <a:r>
              <a:rPr lang="en-US" sz="2100" dirty="0" err="1" smtClean="0"/>
              <a:t>phí</a:t>
            </a:r>
            <a:r>
              <a:rPr lang="en-US" sz="2100" dirty="0" smtClean="0"/>
              <a:t> </a:t>
            </a:r>
            <a:r>
              <a:rPr lang="en-US" sz="2100" dirty="0" err="1" smtClean="0"/>
              <a:t>nhập</a:t>
            </a:r>
            <a:r>
              <a:rPr lang="en-US" sz="2100" dirty="0" smtClean="0"/>
              <a:t> </a:t>
            </a:r>
            <a:r>
              <a:rPr lang="en-US" sz="2100" dirty="0" err="1" smtClean="0"/>
              <a:t>học</a:t>
            </a:r>
            <a:r>
              <a:rPr lang="en-US" sz="2100" dirty="0" smtClean="0"/>
              <a:t> (90 </a:t>
            </a:r>
            <a:r>
              <a:rPr lang="en-US" sz="2100" dirty="0" err="1" smtClean="0"/>
              <a:t>đô</a:t>
            </a:r>
            <a:r>
              <a:rPr lang="en-US" sz="2100" dirty="0" smtClean="0"/>
              <a:t> la </a:t>
            </a:r>
            <a:r>
              <a:rPr lang="en-US" sz="2100" dirty="0" err="1" smtClean="0"/>
              <a:t>Mĩ</a:t>
            </a:r>
            <a:r>
              <a:rPr lang="en-US" sz="2100" dirty="0" smtClean="0"/>
              <a:t>, </a:t>
            </a:r>
            <a:r>
              <a:rPr lang="en-US" sz="2100" dirty="0" err="1" smtClean="0"/>
              <a:t>không</a:t>
            </a:r>
            <a:r>
              <a:rPr lang="en-US" sz="2100" dirty="0" smtClean="0"/>
              <a:t> </a:t>
            </a:r>
            <a:r>
              <a:rPr lang="en-US" sz="2100" dirty="0" err="1" smtClean="0"/>
              <a:t>hoàn</a:t>
            </a:r>
            <a:r>
              <a:rPr lang="en-US" sz="2100" dirty="0" smtClean="0"/>
              <a:t> </a:t>
            </a:r>
            <a:r>
              <a:rPr lang="en-US" sz="2100" dirty="0" err="1" smtClean="0"/>
              <a:t>lại</a:t>
            </a:r>
            <a:r>
              <a:rPr lang="en-US" sz="2100" dirty="0" smtClean="0"/>
              <a:t>) </a:t>
            </a:r>
            <a:r>
              <a:rPr lang="en-US" sz="2100" dirty="0" err="1" smtClean="0"/>
              <a:t>trực</a:t>
            </a:r>
            <a:r>
              <a:rPr lang="en-US" sz="2100" dirty="0" smtClean="0"/>
              <a:t> </a:t>
            </a:r>
            <a:r>
              <a:rPr lang="en-US" sz="2100" dirty="0" err="1" smtClean="0"/>
              <a:t>tuyến</a:t>
            </a:r>
            <a:r>
              <a:rPr lang="en-US" sz="2100" dirty="0" smtClean="0"/>
              <a:t> </a:t>
            </a:r>
            <a:r>
              <a:rPr lang="en-US" sz="2100" dirty="0" err="1" smtClean="0"/>
              <a:t>bằng</a:t>
            </a:r>
            <a:r>
              <a:rPr lang="en-US" sz="2100" dirty="0" smtClean="0"/>
              <a:t> </a:t>
            </a:r>
            <a:r>
              <a:rPr lang="en-US" sz="2100" dirty="0" err="1" smtClean="0"/>
              <a:t>thẻ</a:t>
            </a:r>
            <a:r>
              <a:rPr lang="en-US" sz="2100" dirty="0" smtClean="0"/>
              <a:t> Visa </a:t>
            </a:r>
            <a:r>
              <a:rPr lang="en-US" sz="2100" dirty="0" err="1" smtClean="0"/>
              <a:t>hoặc</a:t>
            </a:r>
            <a:r>
              <a:rPr lang="en-US" sz="2100" dirty="0" smtClean="0"/>
              <a:t> </a:t>
            </a:r>
            <a:r>
              <a:rPr lang="en-US" sz="2100" dirty="0" err="1" smtClean="0"/>
              <a:t>thẻ</a:t>
            </a:r>
            <a:r>
              <a:rPr lang="en-US" sz="2100" dirty="0"/>
              <a:t> </a:t>
            </a:r>
            <a:r>
              <a:rPr lang="en-US" sz="2100" dirty="0" smtClean="0"/>
              <a:t>Master </a:t>
            </a:r>
            <a:r>
              <a:rPr lang="en-US" sz="2100" dirty="0" err="1" smtClean="0"/>
              <a:t>tại</a:t>
            </a:r>
            <a:r>
              <a:rPr lang="en-US" sz="2100" dirty="0" smtClean="0"/>
              <a:t> </a:t>
            </a:r>
            <a:r>
              <a:rPr lang="en-US" sz="2100" dirty="0" smtClean="0">
                <a:hlinkClick r:id="rId2"/>
              </a:rPr>
              <a:t>https</a:t>
            </a:r>
            <a:r>
              <a:rPr lang="en-US" sz="2100" dirty="0">
                <a:hlinkClick r:id="rId2"/>
              </a:rPr>
              <a:t>://orange.okstate.edu/apply/</a:t>
            </a:r>
            <a:r>
              <a:rPr lang="en-US" sz="2100" dirty="0"/>
              <a:t> 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 startAt="3"/>
              <a:defRPr/>
            </a:pPr>
            <a:r>
              <a:rPr lang="en-US" sz="2100" dirty="0" err="1" smtClean="0"/>
              <a:t>Gửi</a:t>
            </a:r>
            <a:r>
              <a:rPr lang="en-US" sz="2100" dirty="0" smtClean="0"/>
              <a:t> </a:t>
            </a:r>
            <a:r>
              <a:rPr lang="en-US" sz="2100" dirty="0" err="1" smtClean="0"/>
              <a:t>bản</a:t>
            </a:r>
            <a:r>
              <a:rPr lang="en-US" sz="2100" dirty="0" smtClean="0"/>
              <a:t> </a:t>
            </a:r>
            <a:r>
              <a:rPr lang="en-US" sz="2100" dirty="0" err="1" smtClean="0"/>
              <a:t>sao</a:t>
            </a:r>
            <a:r>
              <a:rPr lang="en-US" sz="2100" dirty="0" smtClean="0"/>
              <a:t> </a:t>
            </a:r>
            <a:r>
              <a:rPr lang="en-US" sz="2100" dirty="0" err="1" smtClean="0"/>
              <a:t>trang</a:t>
            </a:r>
            <a:r>
              <a:rPr lang="en-US" sz="2100" dirty="0" smtClean="0"/>
              <a:t> </a:t>
            </a:r>
            <a:r>
              <a:rPr lang="en-US" sz="2100" dirty="0" err="1" smtClean="0"/>
              <a:t>hộ</a:t>
            </a:r>
            <a:r>
              <a:rPr lang="en-US" sz="2100" dirty="0" smtClean="0"/>
              <a:t> </a:t>
            </a:r>
            <a:r>
              <a:rPr lang="en-US" sz="2100" dirty="0" err="1" smtClean="0"/>
              <a:t>chiếu</a:t>
            </a:r>
            <a:r>
              <a:rPr lang="en-US" sz="2100" dirty="0" smtClean="0"/>
              <a:t> </a:t>
            </a:r>
            <a:r>
              <a:rPr lang="en-US" sz="2100" dirty="0" err="1" smtClean="0"/>
              <a:t>có</a:t>
            </a:r>
            <a:r>
              <a:rPr lang="en-US" sz="2100" dirty="0" smtClean="0"/>
              <a:t> </a:t>
            </a:r>
            <a:r>
              <a:rPr lang="en-US" sz="2100" dirty="0" err="1" smtClean="0"/>
              <a:t>hình</a:t>
            </a:r>
            <a:r>
              <a:rPr lang="en-US" sz="2100" dirty="0" smtClean="0"/>
              <a:t> </a:t>
            </a:r>
            <a:r>
              <a:rPr lang="en-US" sz="2100" dirty="0" err="1" smtClean="0"/>
              <a:t>đến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 </a:t>
            </a:r>
            <a:r>
              <a:rPr lang="en-US" sz="2100" dirty="0" err="1" smtClean="0"/>
              <a:t>hoặc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email </a:t>
            </a:r>
            <a:r>
              <a:rPr lang="en-US" sz="2100" dirty="0" err="1" smtClean="0"/>
              <a:t>của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 </a:t>
            </a:r>
          </a:p>
          <a:p>
            <a:pPr marL="514350" indent="-514350">
              <a:lnSpc>
                <a:spcPct val="100000"/>
              </a:lnSpc>
              <a:buClr>
                <a:schemeClr val="tx1"/>
              </a:buClr>
              <a:buFont typeface="+mj-lt"/>
              <a:buAutoNum type="arabicPeriod" startAt="3"/>
              <a:defRPr/>
            </a:pPr>
            <a:r>
              <a:rPr lang="en-US" sz="2100" dirty="0" err="1" smtClean="0"/>
              <a:t>Gửi</a:t>
            </a:r>
            <a:r>
              <a:rPr lang="en-US" sz="2100" dirty="0" smtClean="0"/>
              <a:t> </a:t>
            </a:r>
            <a:r>
              <a:rPr lang="en-US" sz="2100" dirty="0" err="1" smtClean="0"/>
              <a:t>điểm</a:t>
            </a:r>
            <a:r>
              <a:rPr lang="en-US" sz="2100" dirty="0" smtClean="0"/>
              <a:t> </a:t>
            </a:r>
            <a:r>
              <a:rPr lang="en-US" sz="2100" dirty="0" err="1" smtClean="0"/>
              <a:t>thi</a:t>
            </a:r>
            <a:r>
              <a:rPr lang="en-US" sz="2100" dirty="0" smtClean="0"/>
              <a:t> </a:t>
            </a:r>
            <a:r>
              <a:rPr lang="en-US" sz="2100" dirty="0" err="1" smtClean="0"/>
              <a:t>năng</a:t>
            </a:r>
            <a:r>
              <a:rPr lang="en-US" sz="2100" dirty="0" smtClean="0"/>
              <a:t> </a:t>
            </a:r>
            <a:r>
              <a:rPr lang="en-US" sz="2100" dirty="0" err="1" smtClean="0"/>
              <a:t>lực</a:t>
            </a:r>
            <a:r>
              <a:rPr lang="en-US" sz="2100" dirty="0" smtClean="0"/>
              <a:t> </a:t>
            </a:r>
            <a:r>
              <a:rPr lang="en-US" sz="2100" dirty="0" err="1" smtClean="0"/>
              <a:t>tiếng</a:t>
            </a:r>
            <a:r>
              <a:rPr lang="en-US" sz="2100" dirty="0" smtClean="0"/>
              <a:t> Anh </a:t>
            </a:r>
            <a:r>
              <a:rPr lang="en-US" sz="2100" dirty="0" err="1" smtClean="0"/>
              <a:t>đến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 </a:t>
            </a:r>
            <a:r>
              <a:rPr lang="en-US" sz="2100" dirty="0" err="1" smtClean="0"/>
              <a:t>hoặc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email </a:t>
            </a:r>
            <a:r>
              <a:rPr lang="en-US" sz="2100" dirty="0" err="1" smtClean="0"/>
              <a:t>của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endParaRPr lang="en-US" sz="2100" dirty="0"/>
          </a:p>
          <a:p>
            <a:pPr marL="514350" indent="-514350">
              <a:lnSpc>
                <a:spcPct val="100000"/>
              </a:lnSpc>
              <a:buClrTx/>
              <a:buFont typeface="+mj-lt"/>
              <a:buAutoNum type="arabicPeriod" startAt="3"/>
              <a:defRPr/>
            </a:pPr>
            <a:r>
              <a:rPr lang="en-US" sz="2100" dirty="0" err="1" smtClean="0"/>
              <a:t>Gửi</a:t>
            </a:r>
            <a:r>
              <a:rPr lang="en-US" sz="2100" dirty="0" smtClean="0"/>
              <a:t> </a:t>
            </a:r>
            <a:r>
              <a:rPr lang="en-US" sz="2100" dirty="0" err="1" smtClean="0"/>
              <a:t>bảng</a:t>
            </a:r>
            <a:r>
              <a:rPr lang="en-US" sz="2100" dirty="0" smtClean="0"/>
              <a:t> </a:t>
            </a:r>
            <a:r>
              <a:rPr lang="en-US" sz="2100" dirty="0" err="1" smtClean="0"/>
              <a:t>điểm</a:t>
            </a:r>
            <a:r>
              <a:rPr lang="en-US" sz="2100" dirty="0" smtClean="0"/>
              <a:t> </a:t>
            </a:r>
            <a:r>
              <a:rPr lang="en-US" sz="2100" dirty="0" err="1" smtClean="0"/>
              <a:t>chính</a:t>
            </a:r>
            <a:r>
              <a:rPr lang="en-US" sz="2100" dirty="0" smtClean="0"/>
              <a:t> </a:t>
            </a:r>
            <a:r>
              <a:rPr lang="en-US" sz="2100" dirty="0" err="1" smtClean="0"/>
              <a:t>thức</a:t>
            </a:r>
            <a:r>
              <a:rPr lang="en-US" sz="2100" dirty="0" smtClean="0"/>
              <a:t> </a:t>
            </a:r>
            <a:r>
              <a:rPr lang="en-US" sz="2100" dirty="0" err="1" smtClean="0"/>
              <a:t>bằng</a:t>
            </a:r>
            <a:r>
              <a:rPr lang="en-US" sz="2100" dirty="0" smtClean="0"/>
              <a:t> </a:t>
            </a:r>
            <a:r>
              <a:rPr lang="en-US" sz="2100" dirty="0" err="1" smtClean="0"/>
              <a:t>tiếng</a:t>
            </a:r>
            <a:r>
              <a:rPr lang="en-US" sz="2100" dirty="0" smtClean="0"/>
              <a:t> </a:t>
            </a:r>
            <a:r>
              <a:rPr lang="en-US" sz="2100" dirty="0" err="1" smtClean="0"/>
              <a:t>Việt</a:t>
            </a:r>
            <a:r>
              <a:rPr lang="en-US" sz="2100" dirty="0" smtClean="0"/>
              <a:t> </a:t>
            </a:r>
            <a:r>
              <a:rPr lang="en-US" sz="2100" dirty="0" err="1" smtClean="0"/>
              <a:t>và</a:t>
            </a:r>
            <a:r>
              <a:rPr lang="en-US" sz="2100" dirty="0" smtClean="0"/>
              <a:t> </a:t>
            </a:r>
            <a:r>
              <a:rPr lang="en-US" sz="2100" dirty="0" err="1" smtClean="0"/>
              <a:t>tiếng</a:t>
            </a:r>
            <a:r>
              <a:rPr lang="en-US" sz="2100" dirty="0" smtClean="0"/>
              <a:t> Anh (</a:t>
            </a:r>
            <a:r>
              <a:rPr lang="en-US" sz="2100" dirty="0" err="1" smtClean="0"/>
              <a:t>không</a:t>
            </a:r>
            <a:r>
              <a:rPr lang="en-US" sz="2100" dirty="0" smtClean="0"/>
              <a:t> </a:t>
            </a:r>
            <a:r>
              <a:rPr lang="en-US" sz="2100" dirty="0" err="1" smtClean="0"/>
              <a:t>quá</a:t>
            </a:r>
            <a:r>
              <a:rPr lang="en-US" sz="2100" dirty="0" smtClean="0"/>
              <a:t> 3 </a:t>
            </a:r>
            <a:r>
              <a:rPr lang="en-US" sz="2100" dirty="0" err="1" smtClean="0"/>
              <a:t>tháng</a:t>
            </a:r>
            <a:r>
              <a:rPr lang="en-US" sz="2100" dirty="0" smtClean="0"/>
              <a:t>) </a:t>
            </a:r>
            <a:r>
              <a:rPr lang="en-US" sz="2100" dirty="0" err="1" smtClean="0"/>
              <a:t>có</a:t>
            </a:r>
            <a:r>
              <a:rPr lang="en-US" sz="2100" dirty="0" smtClean="0"/>
              <a:t> </a:t>
            </a:r>
            <a:r>
              <a:rPr lang="en-US" sz="2100" dirty="0" err="1" smtClean="0"/>
              <a:t>niêm</a:t>
            </a:r>
            <a:r>
              <a:rPr lang="en-US" sz="2100" dirty="0" smtClean="0"/>
              <a:t> </a:t>
            </a:r>
            <a:r>
              <a:rPr lang="en-US" sz="2100" dirty="0" err="1" smtClean="0"/>
              <a:t>phong</a:t>
            </a:r>
            <a:r>
              <a:rPr lang="en-US" sz="2100" dirty="0" smtClean="0"/>
              <a:t> </a:t>
            </a:r>
            <a:r>
              <a:rPr lang="en-US" sz="2100" dirty="0" err="1" smtClean="0"/>
              <a:t>đến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 </a:t>
            </a:r>
            <a:r>
              <a:rPr lang="en-US" sz="2100" dirty="0" err="1" smtClean="0"/>
              <a:t>hoặc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email </a:t>
            </a:r>
            <a:r>
              <a:rPr lang="en-US" sz="2100" dirty="0" err="1" smtClean="0"/>
              <a:t>của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 </a:t>
            </a:r>
            <a:r>
              <a:rPr lang="en-US" sz="2100" dirty="0"/>
              <a:t>(</a:t>
            </a:r>
            <a:r>
              <a:rPr lang="en-US" sz="2100" dirty="0" err="1"/>
              <a:t>liên</a:t>
            </a:r>
            <a:r>
              <a:rPr lang="en-US" sz="2100" dirty="0"/>
              <a:t> </a:t>
            </a:r>
            <a:r>
              <a:rPr lang="en-US" sz="2100" dirty="0" err="1"/>
              <a:t>hệ</a:t>
            </a:r>
            <a:r>
              <a:rPr lang="en-US" sz="2100" dirty="0"/>
              <a:t> </a:t>
            </a:r>
            <a:r>
              <a:rPr lang="en-US" sz="2100" dirty="0" err="1"/>
              <a:t>văn</a:t>
            </a:r>
            <a:r>
              <a:rPr lang="en-US" sz="2100" dirty="0"/>
              <a:t> </a:t>
            </a:r>
            <a:r>
              <a:rPr lang="en-US" sz="2100" dirty="0" err="1"/>
              <a:t>phòng</a:t>
            </a:r>
            <a:r>
              <a:rPr lang="en-US" sz="2100" dirty="0"/>
              <a:t> </a:t>
            </a:r>
            <a:r>
              <a:rPr lang="en-US" sz="2100" dirty="0" err="1"/>
              <a:t>Chương</a:t>
            </a:r>
            <a:r>
              <a:rPr lang="en-US" sz="2100" dirty="0"/>
              <a:t> </a:t>
            </a:r>
            <a:r>
              <a:rPr lang="en-US" sz="2100" dirty="0" err="1"/>
              <a:t>trình</a:t>
            </a:r>
            <a:r>
              <a:rPr lang="en-US" sz="2100" dirty="0"/>
              <a:t> </a:t>
            </a:r>
            <a:r>
              <a:rPr lang="en-US" sz="2100" dirty="0" err="1"/>
              <a:t>Đặc</a:t>
            </a:r>
            <a:r>
              <a:rPr lang="en-US" sz="2100" dirty="0"/>
              <a:t> </a:t>
            </a:r>
            <a:r>
              <a:rPr lang="en-US" sz="2100" dirty="0" err="1"/>
              <a:t>biệt</a:t>
            </a:r>
            <a:r>
              <a:rPr lang="en-US" sz="2100" dirty="0"/>
              <a:t> </a:t>
            </a:r>
            <a:r>
              <a:rPr lang="en-US" sz="2100" dirty="0" err="1"/>
              <a:t>để</a:t>
            </a:r>
            <a:r>
              <a:rPr lang="en-US" sz="2100" dirty="0"/>
              <a:t> </a:t>
            </a:r>
            <a:r>
              <a:rPr lang="en-US" sz="2100" dirty="0" err="1"/>
              <a:t>được</a:t>
            </a:r>
            <a:r>
              <a:rPr lang="en-US" sz="2100" dirty="0"/>
              <a:t> </a:t>
            </a:r>
            <a:r>
              <a:rPr lang="en-US" sz="2100" dirty="0" err="1"/>
              <a:t>hỗ</a:t>
            </a:r>
            <a:r>
              <a:rPr lang="en-US" sz="2100" dirty="0"/>
              <a:t> </a:t>
            </a:r>
            <a:r>
              <a:rPr lang="en-US" sz="2100" dirty="0" err="1" smtClean="0"/>
              <a:t>trợ</a:t>
            </a:r>
            <a:r>
              <a:rPr lang="en-US" sz="2100" dirty="0" smtClean="0"/>
              <a:t>) </a:t>
            </a:r>
            <a:endParaRPr lang="en-US" sz="2100" dirty="0"/>
          </a:p>
          <a:p>
            <a:pPr marL="514350" indent="-514350">
              <a:lnSpc>
                <a:spcPct val="100000"/>
              </a:lnSpc>
              <a:buClrTx/>
              <a:buFont typeface="+mj-lt"/>
              <a:buAutoNum type="arabicPeriod" startAt="3"/>
              <a:defRPr/>
            </a:pPr>
            <a:r>
              <a:rPr lang="en-US" sz="2100" dirty="0" err="1" smtClean="0"/>
              <a:t>Gửi</a:t>
            </a:r>
            <a:r>
              <a:rPr lang="en-US" sz="2100" dirty="0" smtClean="0"/>
              <a:t> </a:t>
            </a:r>
            <a:r>
              <a:rPr lang="en-US" sz="2100" dirty="0" err="1" smtClean="0"/>
              <a:t>giấy</a:t>
            </a:r>
            <a:r>
              <a:rPr lang="en-US" sz="2100" dirty="0" smtClean="0"/>
              <a:t> </a:t>
            </a:r>
            <a:r>
              <a:rPr lang="en-US" sz="2100" dirty="0" err="1" smtClean="0"/>
              <a:t>tờ</a:t>
            </a:r>
            <a:r>
              <a:rPr lang="en-US" sz="2100" dirty="0" smtClean="0"/>
              <a:t> </a:t>
            </a:r>
            <a:r>
              <a:rPr lang="en-US" sz="2100" dirty="0" err="1" smtClean="0"/>
              <a:t>đảm</a:t>
            </a:r>
            <a:r>
              <a:rPr lang="en-US" sz="2100" dirty="0" smtClean="0"/>
              <a:t> </a:t>
            </a:r>
            <a:r>
              <a:rPr lang="en-US" sz="2100" dirty="0" err="1" smtClean="0"/>
              <a:t>bảo</a:t>
            </a:r>
            <a:r>
              <a:rPr lang="en-US" sz="2100" dirty="0" smtClean="0"/>
              <a:t> </a:t>
            </a:r>
            <a:r>
              <a:rPr lang="en-US" sz="2100" dirty="0" err="1" smtClean="0"/>
              <a:t>tài</a:t>
            </a:r>
            <a:r>
              <a:rPr lang="en-US" sz="2100" dirty="0" smtClean="0"/>
              <a:t> </a:t>
            </a:r>
            <a:r>
              <a:rPr lang="en-US" sz="2100" dirty="0" err="1" smtClean="0"/>
              <a:t>chính</a:t>
            </a:r>
            <a:r>
              <a:rPr lang="en-US" sz="2100" dirty="0" smtClean="0"/>
              <a:t> </a:t>
            </a:r>
            <a:r>
              <a:rPr lang="en-US" sz="2100" dirty="0" err="1" smtClean="0"/>
              <a:t>đến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 </a:t>
            </a:r>
            <a:r>
              <a:rPr lang="en-US" sz="2100" dirty="0" err="1" smtClean="0"/>
              <a:t>hoặc</a:t>
            </a:r>
            <a:r>
              <a:rPr lang="en-US" sz="2100" dirty="0" smtClean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email </a:t>
            </a:r>
            <a:r>
              <a:rPr lang="en-US" sz="2100" dirty="0" err="1" smtClean="0"/>
              <a:t>của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 (</a:t>
            </a:r>
            <a:r>
              <a:rPr lang="en-US" sz="2100" dirty="0" smtClean="0">
                <a:hlinkClick r:id="rId3" action="ppaction://hlinkfile"/>
              </a:rPr>
              <a:t>bấm </a:t>
            </a:r>
            <a:r>
              <a:rPr lang="en-US" sz="2100" dirty="0" err="1" smtClean="0">
                <a:hlinkClick r:id="rId3" action="ppaction://hlinkfile"/>
              </a:rPr>
              <a:t>vào</a:t>
            </a:r>
            <a:r>
              <a:rPr lang="en-US" sz="2100" dirty="0" smtClean="0">
                <a:hlinkClick r:id="rId3" action="ppaction://hlinkfile"/>
              </a:rPr>
              <a:t> </a:t>
            </a:r>
            <a:r>
              <a:rPr lang="en-US" sz="2100" dirty="0" err="1" smtClean="0">
                <a:hlinkClick r:id="rId3" action="ppaction://hlinkfile"/>
              </a:rPr>
              <a:t>đây</a:t>
            </a:r>
            <a:r>
              <a:rPr lang="en-US" sz="2100" dirty="0" smtClean="0">
                <a:hlinkClick r:id="rId3" action="ppaction://hlinkfile"/>
              </a:rPr>
              <a:t> </a:t>
            </a:r>
            <a:r>
              <a:rPr lang="en-US" sz="2100" dirty="0" err="1" smtClean="0">
                <a:hlinkClick r:id="rId3" action="ppaction://hlinkfile"/>
              </a:rPr>
              <a:t>để</a:t>
            </a:r>
            <a:r>
              <a:rPr lang="en-US" sz="2100" dirty="0" smtClean="0">
                <a:hlinkClick r:id="rId3" action="ppaction://hlinkfile"/>
              </a:rPr>
              <a:t> </a:t>
            </a:r>
            <a:r>
              <a:rPr lang="en-US" sz="2100" dirty="0" err="1" smtClean="0">
                <a:hlinkClick r:id="rId3" action="ppaction://hlinkfile"/>
              </a:rPr>
              <a:t>tải</a:t>
            </a:r>
            <a:r>
              <a:rPr lang="en-US" sz="2100" dirty="0">
                <a:hlinkClick r:id="rId3" action="ppaction://hlinkfile"/>
              </a:rPr>
              <a:t> </a:t>
            </a:r>
            <a:r>
              <a:rPr lang="en-US" sz="2100" dirty="0" err="1" smtClean="0">
                <a:hlinkClick r:id="rId3" action="ppaction://hlinkfile"/>
              </a:rPr>
              <a:t>mẫu</a:t>
            </a:r>
            <a:r>
              <a:rPr lang="en-US" sz="2100" dirty="0" smtClean="0">
                <a:hlinkClick r:id="rId3" action="ppaction://hlinkfile"/>
              </a:rPr>
              <a:t> </a:t>
            </a:r>
            <a:r>
              <a:rPr lang="en-US" sz="2100" dirty="0" err="1" smtClean="0">
                <a:hlinkClick r:id="rId3" action="ppaction://hlinkfile"/>
              </a:rPr>
              <a:t>đơn</a:t>
            </a:r>
            <a:r>
              <a:rPr lang="en-US" sz="2100" dirty="0" smtClean="0"/>
              <a:t>)</a:t>
            </a:r>
            <a:endParaRPr lang="en-US" sz="2100" dirty="0"/>
          </a:p>
          <a:p>
            <a:pPr>
              <a:buClrTx/>
              <a:buFont typeface="Arial" panose="020B0604020202020204" pitchFamily="34" charset="0"/>
              <a:buChar char="•"/>
              <a:defRPr/>
            </a:pPr>
            <a:r>
              <a:rPr lang="en-US" sz="2100" dirty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email </a:t>
            </a:r>
            <a:r>
              <a:rPr lang="en-US" sz="2100" dirty="0" err="1" smtClean="0"/>
              <a:t>của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: </a:t>
            </a:r>
            <a:r>
              <a:rPr lang="en-US" sz="2100" dirty="0"/>
              <a:t>international@okstate.edu  </a:t>
            </a:r>
          </a:p>
          <a:p>
            <a:pPr>
              <a:buClrTx/>
              <a:buFont typeface="Arial" panose="020B0604020202020204" pitchFamily="34" charset="0"/>
              <a:buChar char="•"/>
              <a:defRPr/>
            </a:pPr>
            <a:r>
              <a:rPr lang="en-US" sz="2100" dirty="0"/>
              <a:t> </a:t>
            </a:r>
            <a:r>
              <a:rPr lang="en-US" sz="2100" dirty="0" err="1" smtClean="0"/>
              <a:t>địa</a:t>
            </a:r>
            <a:r>
              <a:rPr lang="en-US" sz="2100" dirty="0" smtClean="0"/>
              <a:t> </a:t>
            </a:r>
            <a:r>
              <a:rPr lang="en-US" sz="2100" dirty="0" err="1" smtClean="0"/>
              <a:t>chỉ</a:t>
            </a:r>
            <a:r>
              <a:rPr lang="en-US" sz="2100" dirty="0" smtClean="0"/>
              <a:t> </a:t>
            </a:r>
            <a:r>
              <a:rPr lang="en-US" sz="2100" dirty="0" err="1" smtClean="0"/>
              <a:t>trường</a:t>
            </a:r>
            <a:r>
              <a:rPr lang="en-US" sz="2100" dirty="0" smtClean="0"/>
              <a:t>: </a:t>
            </a:r>
            <a:r>
              <a:rPr lang="en-US" sz="2100" dirty="0"/>
              <a:t>Undergraduate Admissions, 219 Student Union, Stillwater, OK 74078</a:t>
            </a:r>
          </a:p>
          <a:p>
            <a:pPr marL="0" indent="0">
              <a:buNone/>
              <a:defRPr/>
            </a:pPr>
            <a:endParaRPr lang="en-US" sz="2100" dirty="0"/>
          </a:p>
          <a:p>
            <a:pPr marL="0" indent="0">
              <a:buNone/>
              <a:defRPr/>
            </a:pPr>
            <a:endParaRPr lang="en-US" sz="2100" dirty="0"/>
          </a:p>
          <a:p>
            <a:pPr marL="514350" indent="-514350">
              <a:buFont typeface="+mj-lt"/>
              <a:buAutoNum type="arabicPeriod" startAt="3"/>
              <a:defRPr/>
            </a:pPr>
            <a:endParaRPr lang="en-US" sz="2100" dirty="0"/>
          </a:p>
          <a:p>
            <a:pPr marL="514350" indent="-514350">
              <a:buFont typeface="+mj-lt"/>
              <a:buAutoNum type="arabicPeriod" startAt="3"/>
              <a:defRPr/>
            </a:pPr>
            <a:endParaRPr lang="en-US" sz="2100" dirty="0"/>
          </a:p>
        </p:txBody>
      </p:sp>
      <p:sp>
        <p:nvSpPr>
          <p:cNvPr id="17414" name="TextBox 1"/>
          <p:cNvSpPr txBox="1">
            <a:spLocks noChangeArrowheads="1"/>
          </p:cNvSpPr>
          <p:nvPr/>
        </p:nvSpPr>
        <p:spPr bwMode="auto">
          <a:xfrm>
            <a:off x="8881269" y="6330950"/>
            <a:ext cx="3125787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vpdb@uit.edu.vn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(028) 372 52002 - </a:t>
            </a:r>
            <a:r>
              <a:rPr lang="en-US" altLang="en-US" sz="1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155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106605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3"/>
          <p:cNvSpPr txBox="1">
            <a:spLocks noChangeArrowheads="1"/>
          </p:cNvSpPr>
          <p:nvPr/>
        </p:nvSpPr>
        <p:spPr bwMode="auto">
          <a:xfrm>
            <a:off x="6383338" y="6372225"/>
            <a:ext cx="4068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ja-JP">
                <a:solidFill>
                  <a:prstClr val="white"/>
                </a:solidFill>
                <a:latin typeface="Calibri" panose="020F0502020204030204" pitchFamily="34" charset="0"/>
                <a:cs typeface="HGP明朝E"/>
              </a:rPr>
              <a:t>CHƯƠNG TRÌNH CHẤT LƯỢNG CAO</a:t>
            </a:r>
            <a:endParaRPr kumimoji="1" lang="ja-JP" altLang="en-US">
              <a:solidFill>
                <a:prstClr val="white"/>
              </a:solidFill>
              <a:latin typeface="Calibri" panose="020F0502020204030204" pitchFamily="34" charset="0"/>
              <a:cs typeface="HGP明朝E"/>
            </a:endParaRPr>
          </a:p>
        </p:txBody>
      </p:sp>
      <p:sp>
        <p:nvSpPr>
          <p:cNvPr id="18435" name="Title 1"/>
          <p:cNvSpPr txBox="1">
            <a:spLocks/>
          </p:cNvSpPr>
          <p:nvPr/>
        </p:nvSpPr>
        <p:spPr bwMode="auto">
          <a:xfrm>
            <a:off x="2082801" y="100807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altLang="en-US" sz="2400" b="1" dirty="0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 smtClean="0">
                <a:solidFill>
                  <a:srgbClr val="0F6FC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endParaRPr lang="en-US" altLang="en-US" sz="2400" b="1" dirty="0">
              <a:solidFill>
                <a:srgbClr val="0F6FC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7" name="TextBox 3"/>
          <p:cNvSpPr txBox="1">
            <a:spLocks noChangeArrowheads="1"/>
          </p:cNvSpPr>
          <p:nvPr/>
        </p:nvSpPr>
        <p:spPr bwMode="auto">
          <a:xfrm>
            <a:off x="1814514" y="4941888"/>
            <a:ext cx="8586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5-10%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8" name="TextBox 1"/>
          <p:cNvSpPr txBox="1">
            <a:spLocks noChangeArrowheads="1"/>
          </p:cNvSpPr>
          <p:nvPr/>
        </p:nvSpPr>
        <p:spPr bwMode="auto">
          <a:xfrm>
            <a:off x="8850312" y="6372225"/>
            <a:ext cx="3203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vpdb@uit.edu.vn</a:t>
            </a:r>
            <a:r>
              <a:rPr lang="en-US" altLang="en-US" sz="1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(028) 372 52002 - </a:t>
            </a:r>
            <a:r>
              <a:rPr lang="en-US" altLang="en-US" sz="1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155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421999"/>
              </p:ext>
            </p:extLst>
          </p:nvPr>
        </p:nvGraphicFramePr>
        <p:xfrm>
          <a:off x="1941847" y="1711284"/>
          <a:ext cx="8128000" cy="2595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Nội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Ư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ớc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25,520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Mĩ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Ký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túc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xá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8,940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Mĩ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Sách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cụ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tập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1,270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Mĩ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Nhu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cầu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nhân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5,202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Mĩ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Bảo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hiểm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tế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1,368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Mĩ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cộng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42,300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Mỹ</a:t>
                      </a:r>
                      <a:r>
                        <a:rPr lang="en-US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1237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471322" y="5449887"/>
            <a:ext cx="8382000" cy="3714750"/>
          </a:xfrm>
        </p:spPr>
        <p:txBody>
          <a:bodyPr/>
          <a:lstStyle/>
          <a:p>
            <a:pPr marL="0" indent="0" algn="just" defTabSz="914363" eaLnBrk="1" fontAlgn="auto" hangingPunct="1">
              <a:spcAft>
                <a:spcPts val="0"/>
              </a:spcAft>
              <a:buNone/>
              <a:defRPr/>
            </a:pPr>
            <a:endParaRPr kumimoji="1" lang="en-US" altLang="ja-JP" sz="3600" spc="-150" dirty="0">
              <a:ln w="3175">
                <a:noFill/>
              </a:ln>
            </a:endParaRPr>
          </a:p>
        </p:txBody>
      </p:sp>
      <p:sp>
        <p:nvSpPr>
          <p:cNvPr id="19460" name="TextBox 3"/>
          <p:cNvSpPr txBox="1">
            <a:spLocks noChangeArrowheads="1"/>
          </p:cNvSpPr>
          <p:nvPr/>
        </p:nvSpPr>
        <p:spPr bwMode="auto">
          <a:xfrm>
            <a:off x="6383338" y="6372225"/>
            <a:ext cx="4068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ja-JP">
                <a:solidFill>
                  <a:prstClr val="white"/>
                </a:solidFill>
                <a:latin typeface="Calibri" panose="020F0502020204030204" pitchFamily="34" charset="0"/>
                <a:cs typeface="HGP明朝E"/>
              </a:rPr>
              <a:t>CHƯƠNG TRÌNH TIÊN TIẾN</a:t>
            </a:r>
            <a:endParaRPr kumimoji="1" lang="ja-JP" altLang="en-US">
              <a:solidFill>
                <a:prstClr val="white"/>
              </a:solidFill>
              <a:latin typeface="Calibri" panose="020F0502020204030204" pitchFamily="34" charset="0"/>
              <a:cs typeface="HGP明朝E"/>
            </a:endParaRPr>
          </a:p>
        </p:txBody>
      </p:sp>
      <p:sp>
        <p:nvSpPr>
          <p:cNvPr id="19461" name="Title 1"/>
          <p:cNvSpPr>
            <a:spLocks noGrp="1"/>
          </p:cNvSpPr>
          <p:nvPr>
            <p:ph type="title"/>
          </p:nvPr>
        </p:nvSpPr>
        <p:spPr>
          <a:xfrm>
            <a:off x="1992313" y="284163"/>
            <a:ext cx="8229600" cy="747712"/>
          </a:xfrm>
        </p:spPr>
        <p:txBody>
          <a:bodyPr/>
          <a:lstStyle/>
          <a:p>
            <a:r>
              <a:rPr lang="en-US" altLang="en-US" sz="2400" dirty="0" err="1" smtClean="0"/>
              <a:t>Thông</a:t>
            </a:r>
            <a:r>
              <a:rPr lang="en-US" altLang="en-US" sz="2400" dirty="0" smtClean="0"/>
              <a:t> Tin </a:t>
            </a:r>
            <a:r>
              <a:rPr lang="en-US" altLang="en-US" sz="2400" dirty="0" err="1" smtClean="0"/>
              <a:t>Học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Bổng</a:t>
            </a:r>
            <a:endParaRPr lang="en-US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001838" y="5659439"/>
            <a:ext cx="8229600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bổng</a:t>
            </a:r>
            <a:endParaRPr lang="en-US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trang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 admissions.okstate.edu/international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3" name="TextBox 1"/>
          <p:cNvSpPr txBox="1">
            <a:spLocks noChangeArrowheads="1"/>
          </p:cNvSpPr>
          <p:nvPr/>
        </p:nvSpPr>
        <p:spPr bwMode="auto">
          <a:xfrm>
            <a:off x="8655844" y="6511925"/>
            <a:ext cx="31321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vpdb@uit.edu.vn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(028) 372 52002 - </a:t>
            </a:r>
            <a:r>
              <a:rPr lang="en-US" altLang="en-US" sz="1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155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prstClr val="black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299599"/>
              </p:ext>
            </p:extLst>
          </p:nvPr>
        </p:nvGraphicFramePr>
        <p:xfrm>
          <a:off x="1365160" y="1171578"/>
          <a:ext cx="9710668" cy="44878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27667"/>
                <a:gridCol w="2427667"/>
                <a:gridCol w="2427667"/>
                <a:gridCol w="2427667"/>
              </a:tblGrid>
              <a:tr h="357480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Loại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Mô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tả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trị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Điều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kiện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669729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bổng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đảm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bảo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bổng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bán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trong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 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Mĩ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mỗi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5,000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đô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Mĩ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Đạt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được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từ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24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chuyển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tiếp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trở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lên</a:t>
                      </a:r>
                      <a:endParaRPr lang="en-US" sz="16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Đạt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3.25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bình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lũy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bậc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đại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2460653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bổng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cạnh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Tùy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thuộc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vào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quy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địh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lý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cố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trao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bổng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bình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tích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lũy</a:t>
                      </a:r>
                      <a:endParaRPr lang="en-US" sz="16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cộng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đồng</a:t>
                      </a:r>
                      <a:endParaRPr lang="en-US" sz="16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bài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luận</a:t>
                      </a:r>
                      <a:endParaRPr lang="en-US" sz="16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Điểm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phỏng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vấn</a:t>
                      </a:r>
                      <a:endParaRPr lang="en-US" sz="16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509949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2989263" y="187325"/>
            <a:ext cx="6788150" cy="865188"/>
          </a:xfrm>
        </p:spPr>
        <p:txBody>
          <a:bodyPr/>
          <a:lstStyle/>
          <a:p>
            <a:pPr defTabSz="912813" eaLnBrk="1" hangingPunct="1">
              <a:lnSpc>
                <a:spcPct val="90000"/>
              </a:lnSpc>
            </a:pPr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Mốc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Thời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Gian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Quan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Trọng</a:t>
            </a:r>
            <a:endParaRPr lang="ja-JP" altLang="en-US" sz="2400" i="1" dirty="0">
              <a:solidFill>
                <a:srgbClr val="03495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19289" y="1844675"/>
            <a:ext cx="8429625" cy="3714750"/>
          </a:xfrm>
        </p:spPr>
        <p:txBody>
          <a:bodyPr/>
          <a:lstStyle/>
          <a:p>
            <a:pPr marL="396875" lvl="1" indent="-396875" eaLnBrk="1" hangingPunct="1">
              <a:buNone/>
            </a:pPr>
            <a:r>
              <a:rPr lang="en-US" altLang="en-US" sz="2800">
                <a:solidFill>
                  <a:srgbClr val="FF0000"/>
                </a:solidFill>
              </a:rPr>
              <a:t>   </a:t>
            </a:r>
            <a:endParaRPr lang="en-US" altLang="ja-JP" sz="2800" b="1">
              <a:solidFill>
                <a:srgbClr val="00B050"/>
              </a:solidFill>
              <a:cs typeface="HGP明朝E"/>
            </a:endParaRPr>
          </a:p>
          <a:p>
            <a:pPr marL="396875" lvl="1" indent="-396875" eaLnBrk="1" hangingPunct="1"/>
            <a:endParaRPr lang="ja-JP" altLang="en-US" sz="2800" b="1">
              <a:cs typeface="HGP明朝E"/>
            </a:endParaRPr>
          </a:p>
        </p:txBody>
      </p:sp>
      <p:sp>
        <p:nvSpPr>
          <p:cNvPr id="20484" name="TextBox 4"/>
          <p:cNvSpPr txBox="1">
            <a:spLocks noChangeArrowheads="1"/>
          </p:cNvSpPr>
          <p:nvPr/>
        </p:nvSpPr>
        <p:spPr bwMode="auto">
          <a:xfrm>
            <a:off x="6383338" y="6278563"/>
            <a:ext cx="4068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ja-JP">
                <a:solidFill>
                  <a:prstClr val="white"/>
                </a:solidFill>
                <a:latin typeface="Calibri" panose="020F0502020204030204" pitchFamily="34" charset="0"/>
                <a:cs typeface="HGP明朝E"/>
              </a:rPr>
              <a:t>CHƯƠNG TRÌNH CHẤT LƯỢNG CAO</a:t>
            </a:r>
            <a:endParaRPr kumimoji="1" lang="ja-JP" altLang="en-US">
              <a:solidFill>
                <a:prstClr val="white"/>
              </a:solidFill>
              <a:latin typeface="Calibri" panose="020F0502020204030204" pitchFamily="34" charset="0"/>
              <a:cs typeface="HGP明朝E"/>
            </a:endParaRPr>
          </a:p>
        </p:txBody>
      </p:sp>
      <p:sp>
        <p:nvSpPr>
          <p:cNvPr id="20485" name="TextBox 3"/>
          <p:cNvSpPr txBox="1">
            <a:spLocks noChangeArrowheads="1"/>
          </p:cNvSpPr>
          <p:nvPr/>
        </p:nvSpPr>
        <p:spPr bwMode="auto">
          <a:xfrm>
            <a:off x="1719062" y="4365655"/>
            <a:ext cx="860286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1/12: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túc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</a:t>
            </a: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1/02: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buổi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en-US" sz="24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en-US" sz="24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https://admissions.okstate.edu/information/international/important-dates-deadlines.html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alt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 </a:t>
            </a:r>
            <a:r>
              <a:rPr lang="en-US" altLang="en-US" dirty="0" err="1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20486" name="TextBox 1"/>
          <p:cNvSpPr txBox="1">
            <a:spLocks noChangeArrowheads="1"/>
          </p:cNvSpPr>
          <p:nvPr/>
        </p:nvSpPr>
        <p:spPr bwMode="auto">
          <a:xfrm>
            <a:off x="8720138" y="6462713"/>
            <a:ext cx="320357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vpdb@uit.edu.vn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(028) 372 52002 - </a:t>
            </a:r>
            <a:r>
              <a:rPr lang="en-US" altLang="en-US" sz="12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lang="en-US" altLang="en-US" sz="1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155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271813"/>
              </p:ext>
            </p:extLst>
          </p:nvPr>
        </p:nvGraphicFramePr>
        <p:xfrm>
          <a:off x="1847851" y="1504950"/>
          <a:ext cx="8474075" cy="27623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24692"/>
                <a:gridCol w="3114022"/>
                <a:gridCol w="2535361"/>
              </a:tblGrid>
              <a:tr h="445860">
                <a:tc>
                  <a:txBody>
                    <a:bodyPr/>
                    <a:lstStyle/>
                    <a:p>
                      <a:r>
                        <a:rPr lang="en-US" sz="1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kỳ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xuân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kỳ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hè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kỳ</a:t>
                      </a:r>
                      <a:r>
                        <a:rPr lang="en-US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</a:tr>
              <a:tr h="701013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1/07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bắt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1/03: </a:t>
                      </a:r>
                      <a:r>
                        <a:rPr lang="en-US" sz="2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chót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1/02: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chót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hồ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sơ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bổng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</a:tr>
              <a:tr h="1615377">
                <a:tc>
                  <a:txBody>
                    <a:bodyPr/>
                    <a:lstStyle/>
                    <a:p>
                      <a:r>
                        <a:rPr lang="en-US" sz="2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Thứ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Sáu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trước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của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kỳ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xuân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chót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nộp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bổng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1/06: </a:t>
                      </a:r>
                      <a:r>
                        <a:rPr lang="en-US" sz="20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chót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đơn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xin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nhập</a:t>
                      </a:r>
                      <a:r>
                        <a:rPr lang="en-US" sz="20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18" marB="45718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784184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693989" y="333375"/>
            <a:ext cx="7380287" cy="935038"/>
          </a:xfrm>
        </p:spPr>
        <p:txBody>
          <a:bodyPr/>
          <a:lstStyle/>
          <a:p>
            <a:pPr defTabSz="912813" eaLnBrk="1" hangingPunct="1">
              <a:lnSpc>
                <a:spcPct val="90000"/>
              </a:lnSpc>
            </a:pPr>
            <a:r>
              <a:rPr lang="en-US" altLang="en-US" sz="2400" dirty="0"/>
              <a:t>Relevant Links </a:t>
            </a:r>
            <a:r>
              <a:rPr lang="en-US" altLang="en-US" sz="2400" dirty="0" smtClean="0"/>
              <a:t/>
            </a:r>
            <a:br>
              <a:rPr lang="en-US" altLang="en-US" sz="2400" dirty="0" smtClean="0"/>
            </a:br>
            <a:r>
              <a:rPr lang="en-US" altLang="en-US" sz="2400" dirty="0" err="1" smtClean="0"/>
              <a:t>Các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Nội</a:t>
            </a:r>
            <a:r>
              <a:rPr lang="en-US" altLang="en-US" sz="2400" dirty="0" smtClean="0"/>
              <a:t> Dung </a:t>
            </a:r>
            <a:r>
              <a:rPr lang="en-US" altLang="en-US" sz="2400" dirty="0" err="1" smtClean="0"/>
              <a:t>Liên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Quan</a:t>
            </a:r>
            <a:endParaRPr lang="ja-JP" altLang="en-US" sz="2400" i="1" dirty="0">
              <a:solidFill>
                <a:srgbClr val="03495C"/>
              </a:solidFill>
            </a:endParaRPr>
          </a:p>
        </p:txBody>
      </p:sp>
      <p:sp>
        <p:nvSpPr>
          <p:cNvPr id="21507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19288" y="1447801"/>
            <a:ext cx="8382000" cy="4284663"/>
          </a:xfrm>
        </p:spPr>
        <p:txBody>
          <a:bodyPr/>
          <a:lstStyle/>
          <a:p>
            <a:pPr>
              <a:buClrTx/>
            </a:pPr>
            <a:r>
              <a:rPr lang="en-US" altLang="en-US" sz="2400" dirty="0" err="1" smtClean="0"/>
              <a:t>Bài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luận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xin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nhập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học</a:t>
            </a:r>
            <a:endParaRPr lang="en-US" altLang="en-US" sz="240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dirty="0">
                <a:hlinkClick r:id="rId2"/>
              </a:rPr>
              <a:t>https://admissions.okstate.edu/information/application-essays.html</a:t>
            </a:r>
            <a:endParaRPr lang="en-US" altLang="en-US" sz="2400" dirty="0"/>
          </a:p>
          <a:p>
            <a:pPr>
              <a:buClr>
                <a:schemeClr val="tx1"/>
              </a:buClr>
            </a:pPr>
            <a:r>
              <a:rPr lang="en-US" altLang="en-US" sz="2400" dirty="0" err="1" smtClean="0"/>
              <a:t>Ký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túc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xá</a:t>
            </a:r>
            <a:endParaRPr lang="en-US" altLang="en-US" sz="240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u="sng" dirty="0">
                <a:hlinkClick r:id="rId3"/>
              </a:rPr>
              <a:t>http://www.reslife.okstate.edu/</a:t>
            </a:r>
            <a:endParaRPr lang="en-US" altLang="en-US" sz="2400" dirty="0"/>
          </a:p>
          <a:p>
            <a:pPr>
              <a:buClrTx/>
            </a:pPr>
            <a:r>
              <a:rPr lang="en-US" altLang="en-US" sz="2400" dirty="0" err="1" smtClean="0"/>
              <a:t>Mức</a:t>
            </a:r>
            <a:r>
              <a:rPr lang="en-US" altLang="en-US" sz="2400" dirty="0" smtClean="0"/>
              <a:t> chi </a:t>
            </a:r>
            <a:r>
              <a:rPr lang="en-US" altLang="en-US" sz="2400" dirty="0" err="1" smtClean="0"/>
              <a:t>tiêu</a:t>
            </a:r>
            <a:endParaRPr lang="en-US" altLang="en-US" sz="240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dirty="0">
                <a:hlinkClick r:id="rId4"/>
              </a:rPr>
              <a:t>https://reslife.okstate.edu/sites/default/files/downloads/osu-housing-rate-sheet-2017-2018-v20170725.pdf</a:t>
            </a:r>
            <a:endParaRPr lang="en-US" altLang="en-US" sz="2400" dirty="0"/>
          </a:p>
          <a:p>
            <a:pPr>
              <a:buClr>
                <a:schemeClr val="tx1"/>
              </a:buClr>
            </a:pPr>
            <a:r>
              <a:rPr lang="en-US" altLang="en-US" sz="2400" dirty="0" err="1" smtClean="0"/>
              <a:t>Những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câu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hỏi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thường</a:t>
            </a:r>
            <a:r>
              <a:rPr lang="en-US" altLang="en-US" sz="2400" dirty="0" smtClean="0"/>
              <a:t> </a:t>
            </a:r>
            <a:r>
              <a:rPr lang="en-US" altLang="en-US" sz="2400" dirty="0" err="1" smtClean="0"/>
              <a:t>gặp</a:t>
            </a:r>
            <a:endParaRPr lang="en-US" altLang="en-US" sz="2400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u="sng" dirty="0">
                <a:hlinkClick r:id="rId5"/>
              </a:rPr>
              <a:t>http://www.reslife.okstate.edu/faq.php</a:t>
            </a:r>
            <a:endParaRPr lang="en-US" altLang="en-US" sz="2400" dirty="0"/>
          </a:p>
          <a:p>
            <a:pPr>
              <a:buFont typeface="Wingdings 2" panose="05020102010507070707" pitchFamily="18" charset="2"/>
              <a:buNone/>
            </a:pPr>
            <a:endParaRPr lang="en-US" altLang="en-US" sz="2400" dirty="0"/>
          </a:p>
          <a:p>
            <a:pPr algn="just" eaLnBrk="1" hangingPunct="1">
              <a:buFont typeface="Wingdings 2" panose="05020102010507070707" pitchFamily="18" charset="2"/>
              <a:buNone/>
            </a:pPr>
            <a:endParaRPr kumimoji="1" lang="en-US" altLang="ja-JP" sz="2400" dirty="0"/>
          </a:p>
        </p:txBody>
      </p:sp>
      <p:sp>
        <p:nvSpPr>
          <p:cNvPr id="21508" name="TextBox 3"/>
          <p:cNvSpPr txBox="1">
            <a:spLocks noChangeArrowheads="1"/>
          </p:cNvSpPr>
          <p:nvPr/>
        </p:nvSpPr>
        <p:spPr bwMode="auto">
          <a:xfrm>
            <a:off x="6383338" y="6372225"/>
            <a:ext cx="4068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ja-JP">
                <a:solidFill>
                  <a:prstClr val="white"/>
                </a:solidFill>
                <a:latin typeface="Calibri" panose="020F0502020204030204" pitchFamily="34" charset="0"/>
                <a:cs typeface="HGP明朝E"/>
              </a:rPr>
              <a:t>CHƯƠNG TRÌNH CHẤT LƯỢNG CAO</a:t>
            </a:r>
            <a:endParaRPr kumimoji="1" lang="ja-JP" altLang="en-US">
              <a:solidFill>
                <a:prstClr val="white"/>
              </a:solidFill>
              <a:latin typeface="Calibri" panose="020F0502020204030204" pitchFamily="34" charset="0"/>
              <a:cs typeface="HGP明朝E"/>
            </a:endParaRPr>
          </a:p>
        </p:txBody>
      </p:sp>
      <p:sp>
        <p:nvSpPr>
          <p:cNvPr id="21509" name="TextBox 1"/>
          <p:cNvSpPr txBox="1">
            <a:spLocks noChangeArrowheads="1"/>
          </p:cNvSpPr>
          <p:nvPr/>
        </p:nvSpPr>
        <p:spPr bwMode="auto">
          <a:xfrm>
            <a:off x="7499350" y="6372225"/>
            <a:ext cx="31686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vpdb@uit.edu.vn</a:t>
            </a:r>
            <a:r>
              <a:rPr lang="en-US" altLang="en-US" sz="12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sz="1200" b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(028) 372 52002 - ext: 155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303619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3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4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5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6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7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8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9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0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3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14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658</Words>
  <Application>Microsoft Office PowerPoint</Application>
  <PresentationFormat>Widescreen</PresentationFormat>
  <Paragraphs>90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</vt:i4>
      </vt:variant>
    </vt:vector>
  </HeadingPairs>
  <TitlesOfParts>
    <vt:vector size="23" baseType="lpstr">
      <vt:lpstr>MS PGothic</vt:lpstr>
      <vt:lpstr>Arial</vt:lpstr>
      <vt:lpstr>Brush Script MT</vt:lpstr>
      <vt:lpstr>Calibri</vt:lpstr>
      <vt:lpstr>Constantia</vt:lpstr>
      <vt:lpstr>HGP明朝E</vt:lpstr>
      <vt:lpstr>Segoe</vt:lpstr>
      <vt:lpstr>Times New Roman</vt:lpstr>
      <vt:lpstr>Wingdings 2</vt:lpstr>
      <vt:lpstr>Flow</vt:lpstr>
      <vt:lpstr>1_Flow</vt:lpstr>
      <vt:lpstr>2_Flow</vt:lpstr>
      <vt:lpstr>3_Flow</vt:lpstr>
      <vt:lpstr>4_Flow</vt:lpstr>
      <vt:lpstr>5_Flow</vt:lpstr>
      <vt:lpstr>6_Flow</vt:lpstr>
      <vt:lpstr>CHUYỂN TIẾP  SANG ĐẠI HỌC BANG OKLAHOMA HOA KỲ</vt:lpstr>
      <vt:lpstr>PowerPoint Presentation</vt:lpstr>
      <vt:lpstr>Admission Procedure</vt:lpstr>
      <vt:lpstr>PowerPoint Presentation</vt:lpstr>
      <vt:lpstr>Thông Tin Học Bổng</vt:lpstr>
      <vt:lpstr>Các Mốc Thời Gian Quan Trọng</vt:lpstr>
      <vt:lpstr>Relevant Links  Các Nội Dung Liên Quan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TRANSFERRING  to the Oklahoma State University</dc:title>
  <dc:creator>BaoTram</dc:creator>
  <cp:lastModifiedBy>BaoTram</cp:lastModifiedBy>
  <cp:revision>9</cp:revision>
  <dcterms:created xsi:type="dcterms:W3CDTF">2017-11-15T07:13:06Z</dcterms:created>
  <dcterms:modified xsi:type="dcterms:W3CDTF">2017-11-15T08:16:04Z</dcterms:modified>
</cp:coreProperties>
</file>